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33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37" y="2154584"/>
            <a:ext cx="4048125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375" y="2726084"/>
            <a:ext cx="1000125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0" sz="3900" i="0" u="none">
                <a:solidFill>
                  <a:srgbClr val="F8FAFC"/>
                </a:solidFill>
                <a:latin typeface="Prompt SemiBold"/>
              </a:rPr>
              <a:t>การวิเคราะห์ข้อมูล Scopus &amp; ความพร้อมสู่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17615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rompt Light"/>
              </a:rPr>
              <a:t>กระบวนการสำรวจข้อมูลเชิงลึก 5 มิติ (EDA), การทำ Data Visualization</a:t>
            </a:r>
            <a:r>
              <a:t>
</a:t>
            </a:r>
            <a:r>
              <a:rPr b="0" sz="1500" i="0" u="none">
                <a:solidFill>
                  <a:srgbClr val="94A3B8"/>
                </a:solidFill>
                <a:latin typeface="Prompt Light"/>
              </a:rPr>
              <a:t> และการสกัดคุณลักษณะด้วย SPECTER2 Embedding เพื่อฝึกฝนโมเดล AI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862" y="2254597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925" y="2229891"/>
            <a:ext cx="1962150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60520" y="2801391"/>
            <a:ext cx="7670958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750" i="0" u="none">
                <a:solidFill>
                  <a:srgbClr val="F8FAFC"/>
                </a:solidFill>
                <a:latin typeface="Prompt SemiBold"/>
              </a:rPr>
              <a:t>ภาพรวมข้อมูลและการวิเคราะห์ 5 มิติ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4096791"/>
            <a:ext cx="7810500" cy="531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b="0" sz="1350" i="0" u="none">
                <a:solidFill>
                  <a:srgbClr val="94A3B8"/>
                </a:solidFill>
                <a:latin typeface="Prompt Light"/>
              </a:rPr>
              <a:t>ฐานข้อมูลงานวิจัย Scopus จำนวน 6,000 ระเบียน ครอบคลุม 10 สาขาวิชาหลักทางวิทยาการคอมพิวเตอร์และเทคโนโลยี (ปี 2020 – 2026) ผ่านการตรวจสอบคุณภาพด้วยระดับความสมบูรณ์ 96.4%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50" y="2329904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382291"/>
            <a:ext cx="5419725" cy="28077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382291"/>
            <a:ext cx="5419725" cy="28077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กระบวนการเตรียมข้อมูล &amp; ทำความสะอาด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561975"/>
            <a:ext cx="747712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658516"/>
            <a:ext cx="48672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887116"/>
            <a:ext cx="511063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8BDF8"/>
                </a:solidFill>
                <a:latin typeface="Prompt SemiBold"/>
              </a:rPr>
              <a:t>1. Data Integration &amp;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153816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การรวมชุดข้อมูลดิบ: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รวบรวมไฟล์ CSV จาก 10 สาขาย่อย และทำ Standardization ชื่อ Subject ให้เป็นหมวดหมู่มาตรฐาน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740497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Type Coercion: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แปลงค่าเชิงตัวเลข เช่น 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Year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และ 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Cited by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พร้อมกำหนดค่าเริ่มต้นเพื่อป้องกัน Type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4327177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Text Normalization: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กรองค่าว่างและจัดการ 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Title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, 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Abstract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, 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Author Keywords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ให้พร้อมสำหรับการวิเคราะห์ข้อความ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658516"/>
            <a:ext cx="48672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05575" y="2887116"/>
            <a:ext cx="511063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34D399"/>
                </a:solidFill>
                <a:latin typeface="Prompt SemiBold"/>
              </a:rPr>
              <a:t>2. Multi-Field 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153816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Tokenization &amp; N-grams: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สกัดคำศัพท์ภาษาอังกฤษ (RegEx Filter ความยาว ≥ 3 อักษร) และกำจัด Stop words เชิงวิชาการ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740497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Author Grouping: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จัดกลุ่มขนาดทีมผู้เขียนออกเป็น 5 ระดับ (เดี่ยว, เล็ก, กลาง, ใหญ่, ใหญ่มาก) เพื่อวิเคราะห์ผลกระทบ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4327177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OA Status Labeling: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แยกประเภทสิทธิ์การเข้าถึงแบบ Open Access และ Subscription เพื่อวัดความได้เปรียบเชิงอ้างอิง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687091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687091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81100"/>
            <a:ext cx="11106150" cy="521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586287"/>
            <a:ext cx="11106150" cy="590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มิติภาษาและความหลากหลายของคลังคำ (NLP)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561975"/>
            <a:ext cx="1081087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81100"/>
            <a:ext cx="11106150" cy="521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831627"/>
            <a:ext cx="11106150" cy="29985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877" y="2353716"/>
            <a:ext cx="4997648" cy="19544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แนวโน้มเชิงเวลาและคำสำคัญอุบัติใหม่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561975"/>
            <a:ext cx="1109662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79902" y="2553741"/>
            <a:ext cx="4827478" cy="26670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4D399"/>
                </a:solidFill>
                <a:latin typeface="Prompt SemiBold"/>
              </a:rPr>
              <a:t>Top Emerging Keywords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902" y="2601366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79902" y="2934741"/>
            <a:ext cx="4597598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Prompt Light"/>
              </a:rPr>
              <a:t>1. </a:t>
            </a:r>
            <a:r>
              <a:rPr b="0" sz="1200" i="0" u="none">
                <a:solidFill>
                  <a:srgbClr val="F8FAFC"/>
                </a:solidFill>
                <a:latin typeface="Prompt Medium"/>
              </a:rPr>
              <a:t>Fusion / Multimodal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</a:t>
            </a:r>
            <a:r>
              <a:rPr b="0" sz="1200" i="0" u="none">
                <a:solidFill>
                  <a:srgbClr val="34D399"/>
                </a:solidFill>
                <a:latin typeface="Prompt Light"/>
              </a:rPr>
              <a:t>+687x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9902" y="3247132"/>
            <a:ext cx="4597598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Prompt Light"/>
              </a:rPr>
              <a:t>2. </a:t>
            </a:r>
            <a:r>
              <a:rPr b="0" sz="1200" i="0" u="none">
                <a:solidFill>
                  <a:srgbClr val="F8FAFC"/>
                </a:solidFill>
                <a:latin typeface="Prompt Medium"/>
              </a:rPr>
              <a:t>Vision / Transformer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</a:t>
            </a:r>
            <a:r>
              <a:rPr b="0" sz="1200" i="0" u="none">
                <a:solidFill>
                  <a:srgbClr val="34D399"/>
                </a:solidFill>
                <a:latin typeface="Prompt Light"/>
              </a:rPr>
              <a:t>+502x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9902" y="3559522"/>
            <a:ext cx="4597598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Prompt Light"/>
              </a:rPr>
              <a:t>3. </a:t>
            </a:r>
            <a:r>
              <a:rPr b="0" sz="1200" i="0" u="none">
                <a:solidFill>
                  <a:srgbClr val="F8FAFC"/>
                </a:solidFill>
                <a:latin typeface="Prompt Medium"/>
              </a:rPr>
              <a:t>LLMs / GenAI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</a:t>
            </a:r>
            <a:r>
              <a:rPr b="0" sz="1200" i="0" u="none">
                <a:solidFill>
                  <a:srgbClr val="34D399"/>
                </a:solidFill>
                <a:latin typeface="Prompt Light"/>
              </a:rPr>
              <a:t>+484x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9902" y="3871912"/>
            <a:ext cx="4597598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Prompt Light"/>
              </a:rPr>
              <a:t>4. </a:t>
            </a:r>
            <a:r>
              <a:rPr b="0" sz="1200" i="0" u="none">
                <a:solidFill>
                  <a:srgbClr val="F8FAFC"/>
                </a:solidFill>
                <a:latin typeface="Prompt Medium"/>
              </a:rPr>
              <a:t>Federated / Privacy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</a:t>
            </a:r>
            <a:r>
              <a:rPr b="0" sz="1200" i="0" u="none">
                <a:solidFill>
                  <a:srgbClr val="34D399"/>
                </a:solidFill>
                <a:latin typeface="Prompt Light"/>
              </a:rPr>
              <a:t>+395x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81100"/>
            <a:ext cx="11106150" cy="521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24412"/>
            <a:ext cx="11106150" cy="590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แหล่งตีพิมพ์และผลกระทบของ Open Access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561975"/>
            <a:ext cx="1109662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652712"/>
            <a:ext cx="2256085" cy="1057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410" y="2652712"/>
            <a:ext cx="2256085" cy="1057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862387"/>
            <a:ext cx="2256085" cy="1057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1410" y="3862387"/>
            <a:ext cx="2256085" cy="1057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เครือข่ายความร่วมมือและขนาดทีมวิจัย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61975"/>
            <a:ext cx="1119187" cy="295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50396" y="2772370"/>
            <a:ext cx="664160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rompt SemiBold"/>
              </a:rPr>
              <a:t>Team Size &amp; Impact 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0396" y="3229570"/>
            <a:ext cx="644143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Prompt Light"/>
              </a:rPr>
              <a:t>การวิเคราะห์ความสัมพันธ์ระหว่างจำนวนผู้เขียนต่อบทความ (Co-authorship Network) พบว่า: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852737"/>
            <a:ext cx="185603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38BDF8"/>
                </a:solidFill>
                <a:latin typeface="JetBrains Mono"/>
              </a:rPr>
              <a:t>3.68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309937"/>
            <a:ext cx="185603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Prompt"/>
              </a:rPr>
              <a:t>Citations เฉลี่ย (&gt;10 คน)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1435" y="2852737"/>
            <a:ext cx="185603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38BDF8"/>
                </a:solidFill>
                <a:latin typeface="JetBrains Mono"/>
              </a:rPr>
              <a:t>0.85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1435" y="3309937"/>
            <a:ext cx="185603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Prompt"/>
              </a:rPr>
              <a:t>Citations เฉลี่ย (ผู้เขียนเดี่ยว)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4062412"/>
            <a:ext cx="185603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38BDF8"/>
                </a:solidFill>
                <a:latin typeface="JetBrains Mono"/>
              </a:rPr>
              <a:t>4.3x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519612"/>
            <a:ext cx="185603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Prompt"/>
              </a:rPr>
              <a:t>อัตราการเติบโตของการอ้างอิง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1435" y="4062412"/>
            <a:ext cx="185603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3150" i="0" u="none">
                <a:solidFill>
                  <a:srgbClr val="38BDF8"/>
                </a:solidFill>
                <a:latin typeface="JetBrains Mono"/>
              </a:rPr>
              <a:t>68%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1435" y="4519612"/>
            <a:ext cx="185603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Prompt"/>
              </a:rPr>
              <a:t>บทความที่มีผู้เขียน 3–5 คน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3296" y="3580060"/>
            <a:ext cx="6098530" cy="457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b="0" sz="1162" i="0" u="none">
                <a:solidFill>
                  <a:srgbClr val="CBD5E1"/>
                </a:solidFill>
                <a:latin typeface="Prompt Light"/>
              </a:rPr>
              <a:t>งานวิจัยแบบทีมขนาดใหญ่ (&gt;10 คน) ได้รับการอ้างอิงเฉลี่ย </a:t>
            </a:r>
            <a:r>
              <a:rPr b="0" sz="1162" i="0" u="none">
                <a:solidFill>
                  <a:srgbClr val="F8FAFC"/>
                </a:solidFill>
                <a:latin typeface="Prompt Medium"/>
              </a:rPr>
              <a:t>3.68 ครั้ง</a:t>
            </a:r>
            <a:r>
              <a:rPr b="0" sz="1162" i="0" u="none">
                <a:solidFill>
                  <a:srgbClr val="CBD5E1"/>
                </a:solidFill>
                <a:latin typeface="Prompt Light"/>
              </a:rPr>
              <a:t> เทียบกับผู้เขียนเดี่ยวที่ได้รับเพียง </a:t>
            </a:r>
            <a:r>
              <a:rPr b="0" sz="1162" i="0" u="none">
                <a:solidFill>
                  <a:srgbClr val="F8FAFC"/>
                </a:solidFill>
                <a:latin typeface="Prompt Medium"/>
              </a:rPr>
              <a:t>0.85 ครั้ง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3296" y="4189958"/>
            <a:ext cx="6098530" cy="457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b="0" sz="1162" i="0" u="none">
                <a:solidFill>
                  <a:srgbClr val="CBD5E1"/>
                </a:solidFill>
                <a:latin typeface="Prompt Light"/>
              </a:rPr>
              <a:t>โครงสร้างเครือข่ายสะท้อนลักษณะความร่วมมือแบบข้ามสถาบันและข้ามประเทศ โดยเฉพาะในโครงการ AI ขนาดใหญ่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396" y="3613398"/>
            <a:ext cx="2190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0396" y="4223295"/>
            <a:ext cx="1905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81100"/>
            <a:ext cx="11106150" cy="521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978967"/>
            <a:ext cx="11106150" cy="29400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การประเมินคุณภาพและความสมบูรณ์ของข้อมูล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561975"/>
            <a:ext cx="1109662" cy="2952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2450" y="1988492"/>
          <a:ext cx="11087098" cy="2921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28229"/>
                <a:gridCol w="1706314"/>
                <a:gridCol w="1940421"/>
                <a:gridCol w="4027140"/>
                <a:gridCol w="1384994"/>
              </a:tblGrid>
              <a:tr h="4868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FAFC"/>
                          </a:solidFill>
                          <a:latin typeface="Prompt SemiBold"/>
                        </a:rPr>
                        <a:t>ฟิลด์ข้อมูล (Feature Field)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FAFC"/>
                          </a:solidFill>
                          <a:latin typeface="Prompt SemiBold"/>
                        </a:rPr>
                        <a:t>อัตราความสมบูรณ์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FAFC"/>
                          </a:solidFill>
                          <a:latin typeface="Prompt SemiBold"/>
                        </a:rPr>
                        <a:t>อัตราสูญหาย (Missing 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FAFC"/>
                          </a:solidFill>
                          <a:latin typeface="Prompt SemiBold"/>
                        </a:rPr>
                        <a:t>กลยุทธ์การจัดการข้อมูล (Imputation Strategy)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FAFC"/>
                          </a:solidFill>
                          <a:latin typeface="Prompt SemiBold"/>
                        </a:rPr>
                        <a:t>สถานะความพร้อม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8684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rompt"/>
                        </a:rPr>
                        <a:t>Title / Document Title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100.0%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คงสภาพข้อความเดิม 100% สำหรับการทำ Embedding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สมบูรณ์แบบ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84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rompt"/>
                        </a:rPr>
                        <a:t>Abstract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99.83%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0.17%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เติมข้อความว่าง 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""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 หรือตัดทิ้งหากไม่มีข้อมูลหลัก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พร้อมใช้งาน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8684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rompt"/>
                        </a:rPr>
                        <a:t>Author Keywords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95.80%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4.20%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ดึงคำสำคัญจาก Title/Abstract หรือใช้ 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Unknown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ผ่านเกณฑ์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84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rompt"/>
                        </a:rPr>
                        <a:t>Cited by / 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100.0%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แปลงค่าตัวเลข (Numeric Imputation: 0, 2020)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พร้อมใช้งาน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868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rompt"/>
                        </a:rPr>
                        <a:t>Funding / Affiliations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86.20%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13.80%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แยกประมวลผลเป็น Categorical Flag หรือค่าว่าง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rompt Light"/>
                        </a:rPr>
                        <a:t>ต้องปรับแต่ง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52450" y="2437953"/>
            <a:ext cx="20282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80679" y="2437953"/>
            <a:ext cx="17063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6994" y="2437953"/>
            <a:ext cx="1940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415" y="2437953"/>
            <a:ext cx="40271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54555" y="2437953"/>
            <a:ext cx="1384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450" y="2931318"/>
            <a:ext cx="20282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0679" y="2931318"/>
            <a:ext cx="17063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6994" y="2931318"/>
            <a:ext cx="1940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415" y="2931318"/>
            <a:ext cx="40271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54555" y="2931318"/>
            <a:ext cx="1384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450" y="3424683"/>
            <a:ext cx="20282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0679" y="3424683"/>
            <a:ext cx="17063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6994" y="3424683"/>
            <a:ext cx="1940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415" y="3424683"/>
            <a:ext cx="40271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54555" y="3424683"/>
            <a:ext cx="1384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450" y="3918049"/>
            <a:ext cx="20282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80679" y="3918049"/>
            <a:ext cx="17063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6994" y="3918049"/>
            <a:ext cx="1940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7415" y="3918049"/>
            <a:ext cx="40271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54555" y="3918049"/>
            <a:ext cx="1384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2450" y="4411414"/>
            <a:ext cx="20282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80679" y="4411414"/>
            <a:ext cx="17063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86994" y="4411414"/>
            <a:ext cx="19404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7415" y="4411414"/>
            <a:ext cx="40271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54555" y="4411414"/>
            <a:ext cx="13849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6005" y="2585591"/>
            <a:ext cx="771525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6005" y="3078956"/>
            <a:ext cx="752475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6005" y="3572321"/>
            <a:ext cx="657225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6005" y="4065686"/>
            <a:ext cx="752475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6005" y="4559051"/>
            <a:ext cx="8001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557462"/>
            <a:ext cx="5419725" cy="24573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557462"/>
            <a:ext cx="5419725" cy="2457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การทดสอบความพร้อมสำหรับ Machine Learning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561975"/>
            <a:ext cx="1109662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833687"/>
            <a:ext cx="48672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062287"/>
            <a:ext cx="511063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A855F7"/>
                </a:solidFill>
                <a:latin typeface="Prompt SemiBold"/>
              </a:rPr>
              <a:t>t-SNE Semantic Separability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328987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การลดมิติข้อมูล (2D Projection):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ทดสอบเวกเตอร์ TF-IDF (300 มิติ) ด้วย t-SNE (Perplexity=30) พบการเกาะกลุ่มแยกตามสาขาอย่างชัดเจน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915667"/>
            <a:ext cx="48672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Cluster Separability: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สาขาเฉพาะทาง เช่น </a:t>
            </a:r>
            <a:r>
              <a:rPr b="0" sz="1200" i="1" u="none">
                <a:solidFill>
                  <a:srgbClr val="CBD5E1"/>
                </a:solidFill>
                <a:latin typeface="Prompt Light"/>
              </a:rPr>
              <a:t>Computational Theory &amp; Math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และ </a:t>
            </a:r>
            <a:r>
              <a:rPr b="0" sz="1200" i="1" u="none">
                <a:solidFill>
                  <a:srgbClr val="CBD5E1"/>
                </a:solidFill>
                <a:latin typeface="Prompt Light"/>
              </a:rPr>
              <a:t>Computer Vision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แยกตัวออกจากกลุ่มอื่น บ่งบอกว่าข้อความมี Discriminative Power สูง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833687"/>
            <a:ext cx="48672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05575" y="3062287"/>
            <a:ext cx="511063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04" i="0" u="none">
                <a:solidFill>
                  <a:srgbClr val="EC4899"/>
                </a:solidFill>
                <a:latin typeface="Prompt SemiBold"/>
              </a:rPr>
              <a:t>Token Length CDF &amp; Truncation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328987"/>
            <a:ext cx="48672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Cumulative Distribution (CDF):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การแจกแจงสะสมความยาวคำในบทคัดย่อ พบว่า 95% ของบทคัดย่อมีความยาวไม่เกิน </a:t>
            </a:r>
            <a:r>
              <a:rPr b="0" sz="1200" i="0" u="none">
                <a:solidFill>
                  <a:srgbClr val="F8FAFC"/>
                </a:solidFill>
                <a:latin typeface="Prompt Medium"/>
              </a:rPr>
              <a:t>350 คำ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915667"/>
            <a:ext cx="48672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Prompt Medium"/>
              </a:rPr>
              <a:t>Max Length Optimization: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การตั้งค่า 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max_length = 512 tokens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ในโมเดล Transformer ครอบคลุมเนื้อหาได้ </a:t>
            </a:r>
            <a:r>
              <a:rPr b="0" sz="1200" i="0" u="none">
                <a:solidFill>
                  <a:srgbClr val="F8FAFC"/>
                </a:solidFill>
                <a:latin typeface="Prompt Medium"/>
              </a:rPr>
              <a:t>99.9%</a:t>
            </a:r>
            <a:r>
              <a:rPr b="0" sz="1200" i="0" u="none">
                <a:solidFill>
                  <a:srgbClr val="CBD5E1"/>
                </a:solidFill>
                <a:latin typeface="Prompt Light"/>
              </a:rPr>
              <a:t> โดยไม่เกิด Information Truncation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62262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862262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81100"/>
            <a:ext cx="11106150" cy="521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193131"/>
            <a:ext cx="3575000" cy="2643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2193131"/>
            <a:ext cx="3575000" cy="26431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925" y="2193131"/>
            <a:ext cx="3575000" cy="26431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912393"/>
            <a:ext cx="309875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การสกัด Embedding ด้วย SPECTER2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561975"/>
            <a:ext cx="1743075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2431256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050" y="3040856"/>
            <a:ext cx="32536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rompt SemiBold"/>
              </a:rPr>
              <a:t>1. Multi-Field Concat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421856"/>
            <a:ext cx="30987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Prompt Light"/>
              </a:rPr>
              <a:t>ผสานข้อมูลข้อความหลายฟิลด์เข้าด้วยกันตามรูปแบบมาตรฐานทางวิชาการ: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550" y="2431256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46550" y="3040856"/>
            <a:ext cx="32536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rompt SemiBold"/>
              </a:rPr>
              <a:t>2. SPECTER2 + 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550" y="3421856"/>
            <a:ext cx="30987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Prompt Light"/>
              </a:rPr>
              <a:t>ใช้โมเดล </a:t>
            </a:r>
            <a:r>
              <a:rPr b="0" sz="1087" i="0" u="none">
                <a:solidFill>
                  <a:srgbClr val="94A3B8"/>
                </a:solidFill>
                <a:latin typeface="Prompt Light"/>
              </a:rPr>
              <a:t>allenai/specter2_base</a:t>
            </a:r>
            <a:r>
              <a:rPr b="0" sz="1087" i="0" u="none">
                <a:solidFill>
                  <a:srgbClr val="94A3B8"/>
                </a:solidFill>
                <a:latin typeface="Prompt Light"/>
              </a:rPr>
              <a:t> ร่วมกับ </a:t>
            </a:r>
            <a:r>
              <a:rPr b="0" sz="1087" i="0" u="none">
                <a:solidFill>
                  <a:srgbClr val="94A3B8"/>
                </a:solidFill>
                <a:latin typeface="Prompt Light"/>
              </a:rPr>
              <a:t>proximity adapter</a:t>
            </a:r>
            <a:r>
              <a:rPr b="0" sz="1087" i="0" u="none">
                <a:solidFill>
                  <a:srgbClr val="94A3B8"/>
                </a:solidFill>
                <a:latin typeface="Prompt Light"/>
              </a:rPr>
              <a:t> เพื่อจับความหมายเชิงบรรณานุกรมและโครงสร้างงานวิจัย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2050" y="2431256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2050" y="3040856"/>
            <a:ext cx="32536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rompt SemiBold"/>
              </a:rPr>
              <a:t>3. 768-D Feature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050" y="3421856"/>
            <a:ext cx="30987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Prompt Light"/>
              </a:rPr>
              <a:t>สร้างเวกเตอร์ Dense Embedding ขนาด </a:t>
            </a:r>
            <a:r>
              <a:rPr b="0" sz="1087" i="0" u="none">
                <a:solidFill>
                  <a:srgbClr val="F8FAFC"/>
                </a:solidFill>
                <a:latin typeface="Prompt Medium"/>
              </a:rPr>
              <a:t>(6000, 768)</a:t>
            </a:r>
            <a:r>
              <a:rPr b="0" sz="1087" i="0" u="none">
                <a:solidFill>
                  <a:srgbClr val="94A3B8"/>
                </a:solidFill>
                <a:latin typeface="Prompt Light"/>
              </a:rPr>
              <a:t> บันทึกลง </a:t>
            </a:r>
            <a:r>
              <a:rPr b="0" sz="1087" i="0" u="none">
                <a:solidFill>
                  <a:srgbClr val="94A3B8"/>
                </a:solidFill>
                <a:latin typeface="Prompt Light"/>
              </a:rPr>
              <a:t>text_embeddings.npy</a:t>
            </a:r>
            <a:r>
              <a:rPr b="0" sz="1087" i="0" u="none">
                <a:solidFill>
                  <a:srgbClr val="94A3B8"/>
                </a:solidFill>
                <a:latin typeface="Prompt Light"/>
              </a:rPr>
              <a:t> พร้อมไฟล์ Metadata เชื่อมโยง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2545556"/>
            <a:ext cx="1714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2275" y="2545556"/>
            <a:ext cx="2857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0638" y="2545556"/>
            <a:ext cx="2000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2925" y="466725"/>
            <a:ext cx="116490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rompt SemiBold"/>
              </a:rPr>
              <a:t>แนวทางการนำข้อมูลไปเทรนโมเดล ML/DL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61975"/>
            <a:ext cx="1471612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566392"/>
            <a:ext cx="9182100" cy="457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b="0" sz="1162" i="0" u="none">
                <a:solidFill>
                  <a:srgbClr val="F8FAFC"/>
                </a:solidFill>
                <a:latin typeface="Prompt Medium"/>
              </a:rPr>
              <a:t>การจำแนกสาขาวิชาอัตโนมัติ (Subject Classification):</a:t>
            </a:r>
            <a:r>
              <a:rPr b="0" sz="1162" i="0" u="none">
                <a:solidFill>
                  <a:srgbClr val="CBD5E1"/>
                </a:solidFill>
                <a:latin typeface="Prompt Light"/>
              </a:rPr>
              <a:t> นำเวกเตอร์ 768 มิติไปเทรนโมเดล Supervised Classifiers เช่น XGBoost, LightGBM, SVM หรือ MLP โดยใช้ค่า Subject เป็น Target Labels (Multi-class)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76289"/>
            <a:ext cx="9182100" cy="457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b="0" sz="1162" i="0" u="none">
                <a:solidFill>
                  <a:srgbClr val="F8FAFC"/>
                </a:solidFill>
                <a:latin typeface="Prompt Medium"/>
              </a:rPr>
              <a:t>การจัดกลุ่มและการสร้างกราฟความรู้ (Clustering &amp; Graph Analysis):</a:t>
            </a:r>
            <a:r>
              <a:rPr b="0" sz="1162" i="0" u="none">
                <a:solidFill>
                  <a:srgbClr val="CBD5E1"/>
                </a:solidFill>
                <a:latin typeface="Prompt Light"/>
              </a:rPr>
              <a:t> นำ Embedding ไปทำ K-Means, HDBSCAN หรือสร้าง Citation/Semantic Graph Network สำหรับการสืบค้นและจับคู่เอกสารที่ใกล้เคียงกัน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786187"/>
            <a:ext cx="9182100" cy="457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b="0" sz="1162" i="0" u="none">
                <a:solidFill>
                  <a:srgbClr val="F8FAFC"/>
                </a:solidFill>
                <a:latin typeface="Prompt Medium"/>
              </a:rPr>
              <a:t>การทำนายผลกระทบงานวิจัย (Citation Impact Prediction):</a:t>
            </a:r>
            <a:r>
              <a:rPr b="0" sz="1162" i="0" u="none">
                <a:solidFill>
                  <a:srgbClr val="CBD5E1"/>
                </a:solidFill>
                <a:latin typeface="Prompt Light"/>
              </a:rPr>
              <a:t> ผสานเวกเตอร์ข้อความเข้ากับ Metadata (ปีที่ตีพิมพ์, จำนวนผู้เขียน, Open Access status) เพื่อทำนายอัตราการถูกอ้างอิง (Regression Task)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396085"/>
            <a:ext cx="9182100" cy="457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b="0" sz="1162" i="0" u="none">
                <a:solidFill>
                  <a:srgbClr val="F8FAFC"/>
                </a:solidFill>
                <a:latin typeface="Prompt Medium"/>
              </a:rPr>
              <a:t>ระบบแนะนำบทความวิจัย (Paper Recommendation System):</a:t>
            </a:r>
            <a:r>
              <a:rPr b="0" sz="1162" i="0" u="none">
                <a:solidFill>
                  <a:srgbClr val="CBD5E1"/>
                </a:solidFill>
                <a:latin typeface="Prompt Light"/>
              </a:rPr>
              <a:t> ใช้ Cosine Similarity ระหว่างเวกเตอร์เพื่อค้นหาบทความที่มีความคล้ายคลึงเชิงความหมายสูงสำหรับนักวิจัย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599729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209627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819525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42942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1462" y="2305050"/>
            <a:ext cx="11649075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F8FAFC"/>
                </a:solidFill>
                <a:latin typeface="Prompt SemiBold"/>
              </a:rPr>
              <a:t>คำถามและข้อเสนอแนะ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925" y="3381375"/>
            <a:ext cx="111061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94A3B8"/>
                </a:solidFill>
                <a:latin typeface="Prompt Light"/>
              </a:rPr>
              <a:t>ขอบคุณสำหรับการรับฟังการนำเสนอ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25" y="4095750"/>
            <a:ext cx="50863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29050" y="4219575"/>
            <a:ext cx="2114550" cy="20955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rompt"/>
              </a:rPr>
              <a:t>Scopus Bibliometric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4100" y="4219575"/>
            <a:ext cx="285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rompt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175" y="4219575"/>
            <a:ext cx="2009775" cy="2095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rompt"/>
              </a:rPr>
              <a:t>EDA &amp; ML Pipeline Ready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424815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4248150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